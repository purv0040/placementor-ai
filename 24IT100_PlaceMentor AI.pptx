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061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9.png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.png"/><Relationship Id="rId5" Type="http://schemas.openxmlformats.org/officeDocument/2006/relationships/image" Target="../media/image12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1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PROJECT APPROVAL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PlaceMentor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A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Placement Readiness and Career Guidance Platform for Engineering Students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3291840" cy="0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400" dirty="0">
                <a:solidFill>
                  <a:srgbClr val="EA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Digisha Savaliya (24IT087)   |   Purv Ughareja (24IT100)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PlaceMentor 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Two-member development team, Department of Information Technology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EAF4F9"/>
          </a:solidFill>
          <a:ln/>
          <a:effectLst>
            <a:outerShdw blurRad="101600" dist="38100" dir="5400000" algn="bl" rotWithShape="0">
              <a:srgbClr val="9AAAB6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880360" y="224028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lacementor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104" y="2478024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29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Digisha Savaliya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3913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No: 24IT087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4343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&amp; AI/NLP Modules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92240" y="182880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EAF4F9"/>
          </a:solidFill>
          <a:ln/>
          <a:effectLst>
            <a:outerShdw blurRad="101600" dist="38100" dir="5400000" algn="bl" rotWithShape="0">
              <a:srgbClr val="9AAAB6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549640" y="224028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placementor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384" y="2478024"/>
            <a:ext cx="530352" cy="5303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0" y="3429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Purv Ughareja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766560" y="3913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No: 24IT100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949440" y="4343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Development &amp; System Integration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PlaceMentor AI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206240" cy="502920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Existing Problem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engineering students apply for campus placements every year, yet many fail — not from lack of effort, but from lack of direction.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spend months preparing without ever knowing whether they are truly placement-ready.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74920" y="128016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EAF4F9"/>
          </a:solidFill>
          <a:ln w="12700">
            <a:solidFill>
              <a:srgbClr val="D5E4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39512" y="14813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/home/claude/placementor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600200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1371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 career guidance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74920" y="251460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EAF4F9"/>
          </a:solidFill>
          <a:ln w="12700">
            <a:solidFill>
              <a:srgbClr val="D5E4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39512" y="27157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placementor/icons/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384" y="2834640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97880" y="2606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study plans that ignore company requirements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074920" y="374904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EAF4F9"/>
          </a:solidFill>
          <a:ln w="12700">
            <a:solidFill>
              <a:srgbClr val="D5E4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239512" y="39502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placementor/icons/file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4069080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97880" y="3840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Poor, non-ATS-compatible resumes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732520" y="128016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EAF4F9"/>
          </a:solidFill>
          <a:ln w="12700">
            <a:solidFill>
              <a:srgbClr val="D5E4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897112" y="14813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placementor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984" y="1600200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55480" y="1371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missing technical skills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732520" y="251460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EAF4F9"/>
          </a:solidFill>
          <a:ln w="12700">
            <a:solidFill>
              <a:srgbClr val="D5E4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897112" y="27157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/home/claude/placementor/icons/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5984" y="2834640"/>
            <a:ext cx="265176" cy="26517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555480" y="2606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to analyze resume, code &amp; projects together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732520" y="374904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EAF4F9"/>
          </a:solidFill>
          <a:ln w="12700">
            <a:solidFill>
              <a:srgbClr val="D5E4EC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8897112" y="39502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5" descr="/home/claude/placementor/icons/cp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5984" y="4069080"/>
            <a:ext cx="265176" cy="26517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555480" y="3840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awareness of company-specific interview prep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PlaceMentor AI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Idea /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98448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Placement Copilot that analyzes a student's resume, GitHub profile, and coding profile against target companies to generate a personalized 90-day placement roadmap.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delivers intelligent recommendations across six dimensions: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630680" cy="2606040"/>
          </a:xfrm>
          <a:prstGeom prst="roundRect">
            <a:avLst>
              <a:gd name="adj" fmla="val 5607"/>
            </a:avLst>
          </a:prstGeom>
          <a:solidFill>
            <a:srgbClr val="EAF4F9"/>
          </a:solidFill>
          <a:ln/>
          <a:effectLst>
            <a:outerShdw blurRad="76200" dist="25400" dir="5400000" algn="bl" rotWithShape="0">
              <a:srgbClr val="9AAAB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98220" y="3383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placementor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56" y="355701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4297680"/>
            <a:ext cx="1484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to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435352" y="3063240"/>
            <a:ext cx="1630680" cy="2606040"/>
          </a:xfrm>
          <a:prstGeom prst="roundRect">
            <a:avLst>
              <a:gd name="adj" fmla="val 5607"/>
            </a:avLst>
          </a:prstGeom>
          <a:solidFill>
            <a:srgbClr val="EAF4F9"/>
          </a:solidFill>
          <a:ln/>
          <a:effectLst>
            <a:outerShdw blurRad="76200" dist="25400" dir="5400000" algn="bl" rotWithShape="0">
              <a:srgbClr val="9AAAB6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884932" y="33832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placementor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8668" y="355701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08504" y="4297680"/>
            <a:ext cx="1484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to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322064" y="3063240"/>
            <a:ext cx="1630680" cy="2606040"/>
          </a:xfrm>
          <a:prstGeom prst="roundRect">
            <a:avLst>
              <a:gd name="adj" fmla="val 5607"/>
            </a:avLst>
          </a:prstGeom>
          <a:solidFill>
            <a:srgbClr val="EAF4F9"/>
          </a:solidFill>
          <a:ln/>
          <a:effectLst>
            <a:outerShdw blurRad="76200" dist="25400" dir="5400000" algn="bl" rotWithShape="0">
              <a:srgbClr val="9AAAB6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71644" y="3383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placementor/icons/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5380" y="35570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95216" y="4297680"/>
            <a:ext cx="1484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Study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08776" y="3063240"/>
            <a:ext cx="1630680" cy="2606040"/>
          </a:xfrm>
          <a:prstGeom prst="roundRect">
            <a:avLst>
              <a:gd name="adj" fmla="val 5607"/>
            </a:avLst>
          </a:prstGeom>
          <a:solidFill>
            <a:srgbClr val="EAF4F9"/>
          </a:solidFill>
          <a:ln/>
          <a:effectLst>
            <a:outerShdw blurRad="76200" dist="25400" dir="5400000" algn="bl" rotWithShape="0">
              <a:srgbClr val="9AAAB6">
                <a:alpha val="2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658356" y="33832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/home/claude/placementor/icons/filet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2092" y="355701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81928" y="4297680"/>
            <a:ext cx="1484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095488" y="3063240"/>
            <a:ext cx="1630680" cy="2606040"/>
          </a:xfrm>
          <a:prstGeom prst="roundRect">
            <a:avLst>
              <a:gd name="adj" fmla="val 5607"/>
            </a:avLst>
          </a:prstGeom>
          <a:solidFill>
            <a:srgbClr val="EAF4F9"/>
          </a:solidFill>
          <a:ln/>
          <a:effectLst>
            <a:outerShdw blurRad="76200" dist="25400" dir="5400000" algn="bl" rotWithShape="0">
              <a:srgbClr val="9AAAB6">
                <a:alpha val="2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545068" y="3383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4" descr="/home/claude/placementor/icons/bar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8804" y="3557016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168640" y="4297680"/>
            <a:ext cx="1484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9982200" y="3063240"/>
            <a:ext cx="1630680" cy="2606040"/>
          </a:xfrm>
          <a:prstGeom prst="roundRect">
            <a:avLst>
              <a:gd name="adj" fmla="val 5607"/>
            </a:avLst>
          </a:prstGeom>
          <a:solidFill>
            <a:srgbClr val="EAF4F9"/>
          </a:solidFill>
          <a:ln/>
          <a:effectLst>
            <a:outerShdw blurRad="76200" dist="25400" dir="5400000" algn="bl" rotWithShape="0">
              <a:srgbClr val="9AAAB6">
                <a:alpha val="2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431780" y="33832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8" name="Image 5" descr="/home/claude/placementor/icons/aw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5516" y="3557016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055352" y="4297680"/>
            <a:ext cx="1484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Company-Specific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PlaceMentor AI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Working — Process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student onboarding to the final readiness dashboard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pic>
        <p:nvPicPr>
          <p:cNvPr id="5" name="Image 0" descr="/home/claude/placementor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56362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1732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 &amp; Login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28900" y="2075688"/>
            <a:ext cx="0" cy="21945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48640" y="2295144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pic>
        <p:nvPicPr>
          <p:cNvPr id="9" name="Image 1" descr="/home/claude/placementor/icons/file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44144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29514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Resume, GitHub ID &amp; LeetCode ID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628900" y="2953512"/>
            <a:ext cx="0" cy="21945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48640" y="3172968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pic>
        <p:nvPicPr>
          <p:cNvPr id="13" name="Image 2" descr="/home/claude/placementor/icons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331927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172968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Extraction: Skills, Projects, Education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2628900" y="3831336"/>
            <a:ext cx="0" cy="21945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548640" y="4050792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pic>
        <p:nvPicPr>
          <p:cNvPr id="17" name="Image 3" descr="/home/claude/placementor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19709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05079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Analysis: GitHub + Coding + Resume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2628900" y="4709160"/>
            <a:ext cx="0" cy="21945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548640" y="4928616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2B134"/>
          </a:solidFill>
          <a:ln/>
        </p:spPr>
      </p:sp>
      <p:pic>
        <p:nvPicPr>
          <p:cNvPr id="21" name="Image 4" descr="/home/claude/placementor/icons/target-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507492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4928616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Detection vs. Company Database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349240" y="141732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pic>
        <p:nvPicPr>
          <p:cNvPr id="24" name="Image 5" descr="/home/claude/placementor/icons/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5544" y="1563624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035040" y="141732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 generates suggestions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7429500" y="2075688"/>
            <a:ext cx="0" cy="21945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7" name="Shape 19"/>
          <p:cNvSpPr/>
          <p:nvPr/>
        </p:nvSpPr>
        <p:spPr>
          <a:xfrm>
            <a:off x="5349240" y="2295144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pic>
        <p:nvPicPr>
          <p:cNvPr id="28" name="Image 6" descr="/home/claude/placementor/icons/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5544" y="2441448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035040" y="229514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Skills, Resources &amp; Project Recommendations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7429500" y="2953512"/>
            <a:ext cx="0" cy="21945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1" name="Shape 22"/>
          <p:cNvSpPr/>
          <p:nvPr/>
        </p:nvSpPr>
        <p:spPr>
          <a:xfrm>
            <a:off x="5349240" y="3172968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pic>
        <p:nvPicPr>
          <p:cNvPr id="32" name="Image 7" descr="/home/claude/placementor/icons/calend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5544" y="3319272"/>
            <a:ext cx="365760" cy="36576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035040" y="3172968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Week-wise Roadmap Generator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7429500" y="3831336"/>
            <a:ext cx="0" cy="21945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5" name="Shape 25"/>
          <p:cNvSpPr/>
          <p:nvPr/>
        </p:nvSpPr>
        <p:spPr>
          <a:xfrm>
            <a:off x="5349240" y="4050792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pic>
        <p:nvPicPr>
          <p:cNvPr id="36" name="Image 8" descr="/home/claude/placementor/icons/barchar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95544" y="4197096"/>
            <a:ext cx="365760" cy="36576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035040" y="405079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Readiness Score Computed</a:t>
            </a:r>
            <a:endParaRPr lang="en-US" sz="1200" dirty="0"/>
          </a:p>
        </p:txBody>
      </p:sp>
      <p:sp>
        <p:nvSpPr>
          <p:cNvPr id="38" name="Shape 27"/>
          <p:cNvSpPr/>
          <p:nvPr/>
        </p:nvSpPr>
        <p:spPr>
          <a:xfrm>
            <a:off x="7429500" y="4709160"/>
            <a:ext cx="0" cy="21945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9" name="Shape 28"/>
          <p:cNvSpPr/>
          <p:nvPr/>
        </p:nvSpPr>
        <p:spPr>
          <a:xfrm>
            <a:off x="5349240" y="4928616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2B134"/>
          </a:solidFill>
          <a:ln/>
        </p:spPr>
      </p:sp>
      <p:pic>
        <p:nvPicPr>
          <p:cNvPr id="40" name="Image 9" descr="/home/claude/placementor/icons/award-dar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95544" y="5074920"/>
            <a:ext cx="365760" cy="36576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035040" y="4928616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Dashboard: Final Output</a:t>
            </a:r>
            <a:endParaRPr lang="en-US" sz="1200" dirty="0"/>
          </a:p>
        </p:txBody>
      </p:sp>
      <p:sp>
        <p:nvSpPr>
          <p:cNvPr id="42" name="Shape 30"/>
          <p:cNvSpPr/>
          <p:nvPr/>
        </p:nvSpPr>
        <p:spPr>
          <a:xfrm>
            <a:off x="4709160" y="5257800"/>
            <a:ext cx="64008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43" name="Shape 31"/>
          <p:cNvSpPr/>
          <p:nvPr/>
        </p:nvSpPr>
        <p:spPr>
          <a:xfrm>
            <a:off x="9829800" y="1417320"/>
            <a:ext cx="1828800" cy="489204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44" name="Text 32"/>
          <p:cNvSpPr/>
          <p:nvPr/>
        </p:nvSpPr>
        <p:spPr>
          <a:xfrm>
            <a:off x="9966960" y="1600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5" name="Text 33"/>
          <p:cNvSpPr/>
          <p:nvPr/>
        </p:nvSpPr>
        <p:spPr>
          <a:xfrm>
            <a:off x="982980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4400" dirty="0"/>
          </a:p>
        </p:txBody>
      </p:sp>
      <p:sp>
        <p:nvSpPr>
          <p:cNvPr id="46" name="Text 34"/>
          <p:cNvSpPr/>
          <p:nvPr/>
        </p:nvSpPr>
        <p:spPr>
          <a:xfrm>
            <a:off x="982980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 Readiness</a:t>
            </a:r>
            <a:endParaRPr lang="en-US" sz="1050" dirty="0"/>
          </a:p>
        </p:txBody>
      </p:sp>
      <p:sp>
        <p:nvSpPr>
          <p:cNvPr id="47" name="Text 35"/>
          <p:cNvSpPr/>
          <p:nvPr/>
        </p:nvSpPr>
        <p:spPr>
          <a:xfrm>
            <a:off x="9966960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</a:t>
            </a:r>
            <a:endParaRPr lang="en-US" sz="950" dirty="0"/>
          </a:p>
        </p:txBody>
      </p:sp>
      <p:sp>
        <p:nvSpPr>
          <p:cNvPr id="48" name="Text 36"/>
          <p:cNvSpPr/>
          <p:nvPr/>
        </p:nvSpPr>
        <p:spPr>
          <a:xfrm>
            <a:off x="10972800" y="3337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50" dirty="0"/>
          </a:p>
        </p:txBody>
      </p:sp>
      <p:sp>
        <p:nvSpPr>
          <p:cNvPr id="49" name="Text 37"/>
          <p:cNvSpPr/>
          <p:nvPr/>
        </p:nvSpPr>
        <p:spPr>
          <a:xfrm>
            <a:off x="9966960" y="37216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950" dirty="0"/>
          </a:p>
        </p:txBody>
      </p:sp>
      <p:sp>
        <p:nvSpPr>
          <p:cNvPr id="50" name="Text 38"/>
          <p:cNvSpPr/>
          <p:nvPr/>
        </p:nvSpPr>
        <p:spPr>
          <a:xfrm>
            <a:off x="10972800" y="372160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50" dirty="0"/>
          </a:p>
        </p:txBody>
      </p:sp>
      <p:sp>
        <p:nvSpPr>
          <p:cNvPr id="51" name="Text 39"/>
          <p:cNvSpPr/>
          <p:nvPr/>
        </p:nvSpPr>
        <p:spPr>
          <a:xfrm>
            <a:off x="9966960" y="41056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50" dirty="0"/>
          </a:p>
        </p:txBody>
      </p:sp>
      <p:sp>
        <p:nvSpPr>
          <p:cNvPr id="52" name="Text 40"/>
          <p:cNvSpPr/>
          <p:nvPr/>
        </p:nvSpPr>
        <p:spPr>
          <a:xfrm>
            <a:off x="10972800" y="410565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50" dirty="0"/>
          </a:p>
        </p:txBody>
      </p:sp>
      <p:sp>
        <p:nvSpPr>
          <p:cNvPr id="53" name="Text 41"/>
          <p:cNvSpPr/>
          <p:nvPr/>
        </p:nvSpPr>
        <p:spPr>
          <a:xfrm>
            <a:off x="9966960" y="44897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950" dirty="0"/>
          </a:p>
        </p:txBody>
      </p:sp>
      <p:sp>
        <p:nvSpPr>
          <p:cNvPr id="54" name="Text 42"/>
          <p:cNvSpPr/>
          <p:nvPr/>
        </p:nvSpPr>
        <p:spPr>
          <a:xfrm>
            <a:off x="10972800" y="44897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9966960" y="48737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50" dirty="0"/>
          </a:p>
        </p:txBody>
      </p:sp>
      <p:sp>
        <p:nvSpPr>
          <p:cNvPr id="56" name="Text 44"/>
          <p:cNvSpPr/>
          <p:nvPr/>
        </p:nvSpPr>
        <p:spPr>
          <a:xfrm>
            <a:off x="10972800" y="48737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50" dirty="0"/>
          </a:p>
        </p:txBody>
      </p:sp>
      <p:sp>
        <p:nvSpPr>
          <p:cNvPr id="57" name="Text 45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PlaceMentor AI</a:t>
            </a:r>
            <a:endParaRPr lang="en-US" sz="900" dirty="0"/>
          </a:p>
        </p:txBody>
      </p:sp>
      <p:sp>
        <p:nvSpPr>
          <p:cNvPr id="58" name="Text 46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integrated modules that together assess and elevate placement readiness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44240" cy="2331720"/>
          </a:xfrm>
          <a:prstGeom prst="roundRect">
            <a:avLst>
              <a:gd name="adj" fmla="val 3922"/>
            </a:avLst>
          </a:prstGeom>
          <a:solidFill>
            <a:srgbClr val="EAF4F9"/>
          </a:solidFill>
          <a:ln/>
          <a:effectLst>
            <a:outerShdw blurRad="76200" dist="25400" dir="5400000" algn="bl" rotWithShape="0">
              <a:srgbClr val="9AAAB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lacementor/icons/file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0195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09928"/>
            <a:ext cx="225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Analysis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423160"/>
            <a:ext cx="29321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parsing, ATS score &amp; AI-driven improvement suggestions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8640" y="1508760"/>
            <a:ext cx="3444240" cy="2331720"/>
          </a:xfrm>
          <a:prstGeom prst="roundRect">
            <a:avLst>
              <a:gd name="adj" fmla="val 3922"/>
            </a:avLst>
          </a:prstGeom>
          <a:solidFill>
            <a:srgbClr val="EAF4F9"/>
          </a:solidFill>
          <a:ln/>
          <a:effectLst>
            <a:outerShdw blurRad="76200" dist="25400" dir="5400000" algn="bl" rotWithShape="0">
              <a:srgbClr val="9AAAB6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4672" y="176479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lacementor/icon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832" y="190195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4480" y="1709928"/>
            <a:ext cx="225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Analysis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4672" y="2423160"/>
            <a:ext cx="29321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quality, commit activity, language &amp; project diversity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68640" y="1508760"/>
            <a:ext cx="3444240" cy="2331720"/>
          </a:xfrm>
          <a:prstGeom prst="roundRect">
            <a:avLst>
              <a:gd name="adj" fmla="val 3922"/>
            </a:avLst>
          </a:prstGeom>
          <a:solidFill>
            <a:srgbClr val="EAF4F9"/>
          </a:solidFill>
          <a:ln/>
          <a:effectLst>
            <a:outerShdw blurRad="76200" dist="25400" dir="5400000" algn="bl" rotWithShape="0">
              <a:srgbClr val="9AAAB6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176479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lacementor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1832" y="190195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74480" y="1709928"/>
            <a:ext cx="225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Profile Analysis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24672" y="2423160"/>
            <a:ext cx="29321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/ HackerRank score &amp; topic-wise strength mapping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3444240" cy="2331720"/>
          </a:xfrm>
          <a:prstGeom prst="roundRect">
            <a:avLst>
              <a:gd name="adj" fmla="val 3922"/>
            </a:avLst>
          </a:prstGeom>
          <a:solidFill>
            <a:srgbClr val="EAF4F9"/>
          </a:solidFill>
          <a:ln/>
          <a:effectLst>
            <a:outerShdw blurRad="76200" dist="25400" dir="5400000" algn="bl" rotWithShape="0">
              <a:srgbClr val="9AAAB6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46227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placementor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59943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407408"/>
            <a:ext cx="225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Gap Detection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120640"/>
            <a:ext cx="29321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current vs. required skills for the target role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58640" y="4206240"/>
            <a:ext cx="3444240" cy="2331720"/>
          </a:xfrm>
          <a:prstGeom prst="roundRect">
            <a:avLst>
              <a:gd name="adj" fmla="val 3922"/>
            </a:avLst>
          </a:prstGeom>
          <a:solidFill>
            <a:srgbClr val="EAF4F9"/>
          </a:solidFill>
          <a:ln/>
          <a:effectLst>
            <a:outerShdw blurRad="76200" dist="25400" dir="5400000" algn="bl" rotWithShape="0">
              <a:srgbClr val="9AAAB6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4672" y="446227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placementor/icons/z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1832" y="459943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64480" y="4407408"/>
            <a:ext cx="225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Project Recommendation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4672" y="5120640"/>
            <a:ext cx="29321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role-specific projects to close skill gaps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68640" y="4206240"/>
            <a:ext cx="3444240" cy="2331720"/>
          </a:xfrm>
          <a:prstGeom prst="roundRect">
            <a:avLst>
              <a:gd name="adj" fmla="val 3922"/>
            </a:avLst>
          </a:prstGeom>
          <a:solidFill>
            <a:srgbClr val="EAF4F9"/>
          </a:solidFill>
          <a:ln/>
          <a:effectLst>
            <a:outerShdw blurRad="76200" dist="25400" dir="5400000" algn="bl" rotWithShape="0">
              <a:srgbClr val="9AAAB6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24672" y="446227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placementor/icons/calend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1832" y="4599432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74480" y="4407408"/>
            <a:ext cx="225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Study Planner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24672" y="5120640"/>
            <a:ext cx="29321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structured roadmap ending in mock interviews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PlaceMentor AI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Modules &amp; Techniques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functional module is powered by a specific AI / ML technique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2B13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600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Technique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603504"/>
          </a:xfrm>
          <a:prstGeom prst="rect">
            <a:avLst/>
          </a:prstGeom>
          <a:solidFill>
            <a:srgbClr val="1B2A5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0" y="21031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(NLP)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11064240" cy="603504"/>
          </a:xfrm>
          <a:prstGeom prst="rect">
            <a:avLst/>
          </a:prstGeom>
          <a:solidFill>
            <a:srgbClr val="22316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06624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2706624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11064240" cy="603504"/>
          </a:xfrm>
          <a:prstGeom prst="rect">
            <a:avLst/>
          </a:prstGeom>
          <a:solidFill>
            <a:srgbClr val="1B2A5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10128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0" y="331012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11064240" cy="603504"/>
          </a:xfrm>
          <a:prstGeom prst="rect">
            <a:avLst/>
          </a:prstGeom>
          <a:solidFill>
            <a:srgbClr val="223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13632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Optimization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17920" y="391363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(LLM)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17136"/>
            <a:ext cx="11064240" cy="603504"/>
          </a:xfrm>
          <a:prstGeom prst="rect">
            <a:avLst/>
          </a:prstGeom>
          <a:solidFill>
            <a:srgbClr val="1B2A5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517136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Recommendation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0" y="4517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1064240" cy="603504"/>
          </a:xfrm>
          <a:prstGeom prst="rect">
            <a:avLst/>
          </a:prstGeom>
          <a:solidFill>
            <a:srgbClr val="223167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120640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Prediction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17920" y="512064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Classification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724144"/>
            <a:ext cx="11064240" cy="603504"/>
          </a:xfrm>
          <a:prstGeom prst="rect">
            <a:avLst/>
          </a:prstGeom>
          <a:solidFill>
            <a:srgbClr val="1B2A54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724144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 Generator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17920" y="5724144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Rule Engine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PlaceMentor 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Gap Detection —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a student's current skills against the target role's required skill 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EAF4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Student's Current Skills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placementor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5420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30175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placementor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09067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22960" y="35661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/home/claude/placementor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63931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343400" y="169164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EAF4F9"/>
          </a:solidFill>
          <a:ln/>
        </p:spPr>
      </p:sp>
      <p:sp>
        <p:nvSpPr>
          <p:cNvPr id="16" name="Text 11"/>
          <p:cNvSpPr/>
          <p:nvPr/>
        </p:nvSpPr>
        <p:spPr>
          <a:xfrm>
            <a:off x="45720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Skills (ML Engineer)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617720" y="240487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placementor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2459736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29200" y="235000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617720" y="286207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/home/claude/placementor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2916936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29200" y="280720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617720" y="331927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5" descr="/home/claude/placementor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3374136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029200" y="326440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4617720" y="3776472"/>
            <a:ext cx="292608" cy="292608"/>
          </a:xfrm>
          <a:prstGeom prst="ellipse">
            <a:avLst/>
          </a:prstGeom>
          <a:solidFill>
            <a:srgbClr val="C9432F"/>
          </a:solidFill>
          <a:ln/>
        </p:spPr>
      </p:sp>
      <p:pic>
        <p:nvPicPr>
          <p:cNvPr id="27" name="Image 6" descr="/home/claude/placementor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3831336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029200" y="372160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4617720" y="4233672"/>
            <a:ext cx="292608" cy="292608"/>
          </a:xfrm>
          <a:prstGeom prst="ellipse">
            <a:avLst/>
          </a:prstGeom>
          <a:solidFill>
            <a:srgbClr val="C9432F"/>
          </a:solidFill>
          <a:ln/>
        </p:spPr>
      </p:sp>
      <p:pic>
        <p:nvPicPr>
          <p:cNvPr id="30" name="Image 7" descr="/home/claude/placementor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4288536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029200" y="417880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32" name="Shape 22"/>
          <p:cNvSpPr/>
          <p:nvPr/>
        </p:nvSpPr>
        <p:spPr>
          <a:xfrm>
            <a:off x="4617720" y="4690872"/>
            <a:ext cx="292608" cy="292608"/>
          </a:xfrm>
          <a:prstGeom prst="ellipse">
            <a:avLst/>
          </a:prstGeom>
          <a:solidFill>
            <a:srgbClr val="C9432F"/>
          </a:solidFill>
          <a:ln/>
        </p:spPr>
      </p:sp>
      <p:pic>
        <p:nvPicPr>
          <p:cNvPr id="33" name="Image 8" descr="/home/claude/placementor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4745736"/>
            <a:ext cx="182880" cy="18288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029200" y="463600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</p:txBody>
      </p:sp>
      <p:sp>
        <p:nvSpPr>
          <p:cNvPr id="35" name="Shape 24"/>
          <p:cNvSpPr/>
          <p:nvPr/>
        </p:nvSpPr>
        <p:spPr>
          <a:xfrm>
            <a:off x="4617720" y="5148072"/>
            <a:ext cx="292608" cy="292608"/>
          </a:xfrm>
          <a:prstGeom prst="ellipse">
            <a:avLst/>
          </a:prstGeom>
          <a:solidFill>
            <a:srgbClr val="C9432F"/>
          </a:solidFill>
          <a:ln/>
        </p:spPr>
      </p:sp>
      <p:pic>
        <p:nvPicPr>
          <p:cNvPr id="36" name="Image 9" descr="/home/claude/placementor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5202936"/>
            <a:ext cx="182880" cy="18288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029200" y="509320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50" dirty="0"/>
          </a:p>
        </p:txBody>
      </p:sp>
      <p:sp>
        <p:nvSpPr>
          <p:cNvPr id="38" name="Shape 26"/>
          <p:cNvSpPr/>
          <p:nvPr/>
        </p:nvSpPr>
        <p:spPr>
          <a:xfrm>
            <a:off x="8138160" y="169164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21295C"/>
          </a:solidFill>
          <a:ln/>
        </p:spPr>
      </p:sp>
      <p:sp>
        <p:nvSpPr>
          <p:cNvPr id="39" name="Text 27"/>
          <p:cNvSpPr/>
          <p:nvPr/>
        </p:nvSpPr>
        <p:spPr>
          <a:xfrm>
            <a:off x="836676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AI-Detected Missing Skills</a:t>
            </a:r>
            <a:endParaRPr lang="en-US" sz="1500" dirty="0"/>
          </a:p>
        </p:txBody>
      </p:sp>
      <p:sp>
        <p:nvSpPr>
          <p:cNvPr id="40" name="Shape 28"/>
          <p:cNvSpPr/>
          <p:nvPr/>
        </p:nvSpPr>
        <p:spPr>
          <a:xfrm>
            <a:off x="8366760" y="260604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2B134"/>
          </a:solidFill>
          <a:ln/>
        </p:spPr>
      </p:sp>
      <p:sp>
        <p:nvSpPr>
          <p:cNvPr id="41" name="Text 29"/>
          <p:cNvSpPr/>
          <p:nvPr/>
        </p:nvSpPr>
        <p:spPr>
          <a:xfrm>
            <a:off x="854964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2" name="Shape 30"/>
          <p:cNvSpPr/>
          <p:nvPr/>
        </p:nvSpPr>
        <p:spPr>
          <a:xfrm>
            <a:off x="8366760" y="338328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2B134"/>
          </a:solidFill>
          <a:ln/>
        </p:spPr>
      </p:sp>
      <p:sp>
        <p:nvSpPr>
          <p:cNvPr id="43" name="Text 31"/>
          <p:cNvSpPr/>
          <p:nvPr/>
        </p:nvSpPr>
        <p:spPr>
          <a:xfrm>
            <a:off x="854964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44" name="Shape 32"/>
          <p:cNvSpPr/>
          <p:nvPr/>
        </p:nvSpPr>
        <p:spPr>
          <a:xfrm>
            <a:off x="8366760" y="416052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2B134"/>
          </a:solidFill>
          <a:ln/>
        </p:spPr>
      </p:sp>
      <p:sp>
        <p:nvSpPr>
          <p:cNvPr id="45" name="Text 33"/>
          <p:cNvSpPr/>
          <p:nvPr/>
        </p:nvSpPr>
        <p:spPr>
          <a:xfrm>
            <a:off x="8549640" y="4160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46" name="Text 34"/>
          <p:cNvSpPr/>
          <p:nvPr/>
        </p:nvSpPr>
        <p:spPr>
          <a:xfrm>
            <a:off x="8366760" y="5074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A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Recommended for the 90-Day Roadmap</a:t>
            </a:r>
            <a:endParaRPr lang="en-US" sz="1100" dirty="0"/>
          </a:p>
        </p:txBody>
      </p:sp>
      <p:sp>
        <p:nvSpPr>
          <p:cNvPr id="47" name="Shape 35"/>
          <p:cNvSpPr/>
          <p:nvPr/>
        </p:nvSpPr>
        <p:spPr>
          <a:xfrm>
            <a:off x="3931920" y="3794760"/>
            <a:ext cx="411480" cy="0"/>
          </a:xfrm>
          <a:prstGeom prst="line">
            <a:avLst/>
          </a:prstGeom>
          <a:noFill/>
          <a:ln w="25400">
            <a:solidFill>
              <a:srgbClr val="5C7080"/>
            </a:solidFill>
            <a:prstDash val="solid"/>
            <a:tailEnd type="triangle"/>
          </a:ln>
        </p:spPr>
      </p:sp>
      <p:sp>
        <p:nvSpPr>
          <p:cNvPr id="48" name="Shape 36"/>
          <p:cNvSpPr/>
          <p:nvPr/>
        </p:nvSpPr>
        <p:spPr>
          <a:xfrm>
            <a:off x="7726680" y="3794760"/>
            <a:ext cx="411480" cy="0"/>
          </a:xfrm>
          <a:prstGeom prst="line">
            <a:avLst/>
          </a:prstGeom>
          <a:noFill/>
          <a:ln w="25400">
            <a:solidFill>
              <a:srgbClr val="5C7080"/>
            </a:solidFill>
            <a:prstDash val="solid"/>
            <a:tailEnd type="triangle"/>
          </a:ln>
        </p:spPr>
      </p:sp>
      <p:sp>
        <p:nvSpPr>
          <p:cNvPr id="49" name="Text 37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PlaceMentor AI</a:t>
            </a:r>
            <a:endParaRPr lang="en-US" sz="900" dirty="0"/>
          </a:p>
        </p:txBody>
      </p:sp>
      <p:sp>
        <p:nvSpPr>
          <p:cNvPr id="50" name="Text 38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architecture combining modern web technologies with applied AI/ML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74036" cy="1505712"/>
          </a:xfrm>
          <a:prstGeom prst="roundRect">
            <a:avLst>
              <a:gd name="adj" fmla="val 4858"/>
            </a:avLst>
          </a:prstGeom>
          <a:solidFill>
            <a:srgbClr val="EAF4F9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200558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lacementor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1244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600200"/>
            <a:ext cx="1705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98448" y="1929384"/>
            <a:ext cx="1705356" cy="1002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Tailwind CSS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378708" y="1508760"/>
            <a:ext cx="2574036" cy="1505712"/>
          </a:xfrm>
          <a:prstGeom prst="roundRect">
            <a:avLst>
              <a:gd name="adj" fmla="val 4858"/>
            </a:avLst>
          </a:prstGeom>
          <a:solidFill>
            <a:srgbClr val="EAF4F9"/>
          </a:solidFill>
          <a:ln/>
        </p:spPr>
      </p:sp>
      <p:sp>
        <p:nvSpPr>
          <p:cNvPr id="10" name="Shape 7"/>
          <p:cNvSpPr/>
          <p:nvPr/>
        </p:nvSpPr>
        <p:spPr>
          <a:xfrm>
            <a:off x="3525012" y="200558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lacementor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884" y="212445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28516" y="1600200"/>
            <a:ext cx="1705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28516" y="1929384"/>
            <a:ext cx="1705356" cy="1002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(FastAPI)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6208776" y="1508760"/>
            <a:ext cx="2574036" cy="1505712"/>
          </a:xfrm>
          <a:prstGeom prst="roundRect">
            <a:avLst>
              <a:gd name="adj" fmla="val 4858"/>
            </a:avLst>
          </a:prstGeom>
          <a:solidFill>
            <a:srgbClr val="EAF4F9"/>
          </a:solidFill>
          <a:ln/>
        </p:spPr>
      </p:sp>
      <p:sp>
        <p:nvSpPr>
          <p:cNvPr id="15" name="Shape 11"/>
          <p:cNvSpPr/>
          <p:nvPr/>
        </p:nvSpPr>
        <p:spPr>
          <a:xfrm>
            <a:off x="6355080" y="200558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lacementor/icons/z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212445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58584" y="1600200"/>
            <a:ext cx="1705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NLP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958584" y="1929384"/>
            <a:ext cx="1705356" cy="1002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spaCy, Sentence Transformers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9038844" y="1508760"/>
            <a:ext cx="2574036" cy="1505712"/>
          </a:xfrm>
          <a:prstGeom prst="roundRect">
            <a:avLst>
              <a:gd name="adj" fmla="val 4858"/>
            </a:avLst>
          </a:prstGeom>
          <a:solidFill>
            <a:srgbClr val="EAF4F9"/>
          </a:solidFill>
          <a:ln/>
        </p:spPr>
      </p:sp>
      <p:sp>
        <p:nvSpPr>
          <p:cNvPr id="20" name="Shape 15"/>
          <p:cNvSpPr/>
          <p:nvPr/>
        </p:nvSpPr>
        <p:spPr>
          <a:xfrm>
            <a:off x="9185148" y="200558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lacementor/icons/filet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0" y="212445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88652" y="1600200"/>
            <a:ext cx="1705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788652" y="1929384"/>
            <a:ext cx="1705356" cy="1002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PyMuPDF, pdfplumber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548640" y="3270504"/>
            <a:ext cx="2574036" cy="1505712"/>
          </a:xfrm>
          <a:prstGeom prst="roundRect">
            <a:avLst>
              <a:gd name="adj" fmla="val 4858"/>
            </a:avLst>
          </a:prstGeom>
          <a:solidFill>
            <a:srgbClr val="EAF4F9"/>
          </a:solidFill>
          <a:ln/>
        </p:spPr>
      </p:sp>
      <p:sp>
        <p:nvSpPr>
          <p:cNvPr id="25" name="Shape 19"/>
          <p:cNvSpPr/>
          <p:nvPr/>
        </p:nvSpPr>
        <p:spPr>
          <a:xfrm>
            <a:off x="694944" y="37673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placementor/icons/tar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38862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98448" y="3361944"/>
            <a:ext cx="1705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298448" y="3691128"/>
            <a:ext cx="1705356" cy="1002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LLM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3378708" y="3270504"/>
            <a:ext cx="2574036" cy="1505712"/>
          </a:xfrm>
          <a:prstGeom prst="roundRect">
            <a:avLst>
              <a:gd name="adj" fmla="val 4858"/>
            </a:avLst>
          </a:prstGeom>
          <a:solidFill>
            <a:srgbClr val="EAF4F9"/>
          </a:solidFill>
          <a:ln/>
        </p:spPr>
      </p:sp>
      <p:sp>
        <p:nvSpPr>
          <p:cNvPr id="30" name="Shape 23"/>
          <p:cNvSpPr/>
          <p:nvPr/>
        </p:nvSpPr>
        <p:spPr>
          <a:xfrm>
            <a:off x="3525012" y="37673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placementor/icons/bar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3884" y="38862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128516" y="3361944"/>
            <a:ext cx="1705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4128516" y="3691128"/>
            <a:ext cx="1705356" cy="1002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80" dirty="0"/>
          </a:p>
        </p:txBody>
      </p:sp>
      <p:sp>
        <p:nvSpPr>
          <p:cNvPr id="34" name="Shape 26"/>
          <p:cNvSpPr/>
          <p:nvPr/>
        </p:nvSpPr>
        <p:spPr>
          <a:xfrm>
            <a:off x="6208776" y="3270504"/>
            <a:ext cx="2574036" cy="1505712"/>
          </a:xfrm>
          <a:prstGeom prst="roundRect">
            <a:avLst>
              <a:gd name="adj" fmla="val 4858"/>
            </a:avLst>
          </a:prstGeom>
          <a:solidFill>
            <a:srgbClr val="EAF4F9"/>
          </a:solidFill>
          <a:ln/>
        </p:spPr>
      </p:sp>
      <p:sp>
        <p:nvSpPr>
          <p:cNvPr id="35" name="Shape 27"/>
          <p:cNvSpPr/>
          <p:nvPr/>
        </p:nvSpPr>
        <p:spPr>
          <a:xfrm>
            <a:off x="6355080" y="37673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/home/claude/placementor/icons/check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3952" y="388620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958584" y="3361944"/>
            <a:ext cx="1705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958584" y="3691128"/>
            <a:ext cx="1705356" cy="1002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80" dirty="0"/>
          </a:p>
        </p:txBody>
      </p:sp>
      <p:sp>
        <p:nvSpPr>
          <p:cNvPr id="39" name="Shape 30"/>
          <p:cNvSpPr/>
          <p:nvPr/>
        </p:nvSpPr>
        <p:spPr>
          <a:xfrm>
            <a:off x="9038844" y="3270504"/>
            <a:ext cx="2574036" cy="1505712"/>
          </a:xfrm>
          <a:prstGeom prst="roundRect">
            <a:avLst>
              <a:gd name="adj" fmla="val 4858"/>
            </a:avLst>
          </a:prstGeom>
          <a:solidFill>
            <a:srgbClr val="EAF4F9"/>
          </a:solidFill>
          <a:ln/>
        </p:spPr>
      </p:sp>
      <p:sp>
        <p:nvSpPr>
          <p:cNvPr id="40" name="Shape 31"/>
          <p:cNvSpPr/>
          <p:nvPr/>
        </p:nvSpPr>
        <p:spPr>
          <a:xfrm>
            <a:off x="9185148" y="37673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/home/claude/placementor/icons/githu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4020" y="3886200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788652" y="3361944"/>
            <a:ext cx="1705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9788652" y="3691128"/>
            <a:ext cx="1705356" cy="1002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API, LeetCode API</a:t>
            </a:r>
            <a:endParaRPr lang="en-US" sz="980" dirty="0"/>
          </a:p>
        </p:txBody>
      </p:sp>
      <p:sp>
        <p:nvSpPr>
          <p:cNvPr id="44" name="Shape 34"/>
          <p:cNvSpPr/>
          <p:nvPr/>
        </p:nvSpPr>
        <p:spPr>
          <a:xfrm>
            <a:off x="548640" y="5032248"/>
            <a:ext cx="2574036" cy="1505712"/>
          </a:xfrm>
          <a:prstGeom prst="roundRect">
            <a:avLst>
              <a:gd name="adj" fmla="val 4858"/>
            </a:avLst>
          </a:prstGeom>
          <a:solidFill>
            <a:srgbClr val="EAF4F9"/>
          </a:solidFill>
          <a:ln/>
        </p:spPr>
      </p:sp>
      <p:sp>
        <p:nvSpPr>
          <p:cNvPr id="45" name="Shape 35"/>
          <p:cNvSpPr/>
          <p:nvPr/>
        </p:nvSpPr>
        <p:spPr>
          <a:xfrm>
            <a:off x="694944" y="552907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6" name="Image 8" descr="/home/claude/placementor/icons/searc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816" y="5647944"/>
            <a:ext cx="274320" cy="27432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298448" y="5123688"/>
            <a:ext cx="1705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1298448" y="5452872"/>
            <a:ext cx="1705356" cy="1002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980" dirty="0"/>
          </a:p>
        </p:txBody>
      </p:sp>
      <p:sp>
        <p:nvSpPr>
          <p:cNvPr id="49" name="Shape 38"/>
          <p:cNvSpPr/>
          <p:nvPr/>
        </p:nvSpPr>
        <p:spPr>
          <a:xfrm>
            <a:off x="3378708" y="5032248"/>
            <a:ext cx="2574036" cy="1505712"/>
          </a:xfrm>
          <a:prstGeom prst="roundRect">
            <a:avLst>
              <a:gd name="adj" fmla="val 4858"/>
            </a:avLst>
          </a:prstGeom>
          <a:solidFill>
            <a:srgbClr val="EAF4F9"/>
          </a:solidFill>
          <a:ln/>
        </p:spPr>
      </p:sp>
      <p:sp>
        <p:nvSpPr>
          <p:cNvPr id="50" name="Shape 39"/>
          <p:cNvSpPr/>
          <p:nvPr/>
        </p:nvSpPr>
        <p:spPr>
          <a:xfrm>
            <a:off x="3525012" y="552907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1" name="Image 9" descr="/home/claude/placementor/icons/awar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43884" y="5647944"/>
            <a:ext cx="274320" cy="27432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4128516" y="5123688"/>
            <a:ext cx="1705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53" name="Text 41"/>
          <p:cNvSpPr/>
          <p:nvPr/>
        </p:nvSpPr>
        <p:spPr>
          <a:xfrm>
            <a:off x="4128516" y="5452872"/>
            <a:ext cx="1705356" cy="1002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980" dirty="0"/>
          </a:p>
        </p:txBody>
      </p:sp>
      <p:sp>
        <p:nvSpPr>
          <p:cNvPr id="54" name="Shape 42"/>
          <p:cNvSpPr/>
          <p:nvPr/>
        </p:nvSpPr>
        <p:spPr>
          <a:xfrm>
            <a:off x="6208776" y="5032248"/>
            <a:ext cx="2574036" cy="1505712"/>
          </a:xfrm>
          <a:prstGeom prst="roundRect">
            <a:avLst>
              <a:gd name="adj" fmla="val 4858"/>
            </a:avLst>
          </a:prstGeom>
          <a:solidFill>
            <a:srgbClr val="EAF4F9"/>
          </a:solidFill>
          <a:ln/>
        </p:spPr>
      </p:sp>
      <p:sp>
        <p:nvSpPr>
          <p:cNvPr id="55" name="Shape 43"/>
          <p:cNvSpPr/>
          <p:nvPr/>
        </p:nvSpPr>
        <p:spPr>
          <a:xfrm>
            <a:off x="6355080" y="552907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6" name="Image 10" descr="/home/claude/placementor/icons/cod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3952" y="5647944"/>
            <a:ext cx="274320" cy="274320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6958584" y="5123688"/>
            <a:ext cx="1705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58" name="Text 45"/>
          <p:cNvSpPr/>
          <p:nvPr/>
        </p:nvSpPr>
        <p:spPr>
          <a:xfrm>
            <a:off x="6958584" y="5452872"/>
            <a:ext cx="1705356" cy="1002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80" dirty="0"/>
          </a:p>
        </p:txBody>
      </p:sp>
      <p:sp>
        <p:nvSpPr>
          <p:cNvPr id="59" name="Shape 46"/>
          <p:cNvSpPr/>
          <p:nvPr/>
        </p:nvSpPr>
        <p:spPr>
          <a:xfrm>
            <a:off x="9038844" y="5032248"/>
            <a:ext cx="2574036" cy="1505712"/>
          </a:xfrm>
          <a:prstGeom prst="roundRect">
            <a:avLst>
              <a:gd name="adj" fmla="val 4858"/>
            </a:avLst>
          </a:prstGeom>
          <a:solidFill>
            <a:srgbClr val="EAF4F9"/>
          </a:solidFill>
          <a:ln/>
        </p:spPr>
      </p:sp>
      <p:sp>
        <p:nvSpPr>
          <p:cNvPr id="60" name="Shape 47"/>
          <p:cNvSpPr/>
          <p:nvPr/>
        </p:nvSpPr>
        <p:spPr>
          <a:xfrm>
            <a:off x="9185148" y="552907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1" name="Image 11" descr="/home/claude/placementor/icons/user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04020" y="5647944"/>
            <a:ext cx="274320" cy="274320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9788652" y="5123688"/>
            <a:ext cx="1705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63" name="Text 49"/>
          <p:cNvSpPr/>
          <p:nvPr/>
        </p:nvSpPr>
        <p:spPr>
          <a:xfrm>
            <a:off x="9788652" y="5452872"/>
            <a:ext cx="1705356" cy="1002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80" dirty="0"/>
          </a:p>
        </p:txBody>
      </p:sp>
      <p:sp>
        <p:nvSpPr>
          <p:cNvPr id="64" name="Text 50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PlaceMentor AI</a:t>
            </a:r>
            <a:endParaRPr lang="en-US" sz="900" dirty="0"/>
          </a:p>
        </p:txBody>
      </p:sp>
      <p:sp>
        <p:nvSpPr>
          <p:cNvPr id="65" name="Text 5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 Welcome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2926080" cy="0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Digisha Savaliya  (24IT087)
Purv Ughareja  (24IT100)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PlaceMentor AI — Intelligent Placement Readiness &amp; Career Guidance Platform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631</Words>
  <Application>Microsoft Office PowerPoint</Application>
  <PresentationFormat>Widescreen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ugharejapurv39@outlook.com</cp:lastModifiedBy>
  <cp:revision>3</cp:revision>
  <dcterms:created xsi:type="dcterms:W3CDTF">2026-07-17T19:26:01Z</dcterms:created>
  <dcterms:modified xsi:type="dcterms:W3CDTF">2026-07-18T04:47:54Z</dcterms:modified>
</cp:coreProperties>
</file>